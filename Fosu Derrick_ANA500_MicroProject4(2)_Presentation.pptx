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 500 — MICRO-PROJECT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Deep Learning Classification of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Breast Cancer Wisconsin Diagnostic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 •  LSTM / RNN  •  SVM  |  Expanded Outlier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Process: Acquire → Prepare → Analyze → Report → 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PROBLEM STATEMENT &amp; HYPOTHESIS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E6F4F5"/>
          </a:solidFill>
        </p:spPr>
      </p:sp>
      <p:sp>
        <p:nvSpPr>
          <p:cNvPr id="5" name="Text 3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accurately classify breast masses as malignant or benign from the 30 nuclear features extracted from fine-needle aspirate (FNA) images, and can deep-learning models (MLP + RNN/LSTM) together with SVM methods provide clinically actionable decision support while properly handling outliers?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EF9EF"/>
          </a:solidFill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7D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regularized Multi-Layer Perceptron and a sequence-aware recurrent (LSTM) model trained on the standardized 30 features will achieve ≥ 95 % test accuracy and AUC &gt; 0.98. Extreme values in radius, texture, concave points and area (investigated beyond any single variable) are the strongest discriminators; models that account for these outliers will generalize better than unregularized baselines.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1 — ACQUIRE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Breast Cancer Wisconsin Diagnostic (WDBC)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</p:spPr>
      </p:sp>
      <p:sp>
        <p:nvSpPr>
          <p:cNvPr id="9" name="Text 7"/>
          <p:cNvSpPr/>
          <p:nvPr/>
        </p:nvSpPr>
        <p:spPr>
          <a:xfrm>
            <a:off x="2514600" y="105156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</p:spPr>
      </p:sp>
      <p:sp>
        <p:nvSpPr>
          <p:cNvPr id="12" name="Text 10"/>
          <p:cNvSpPr/>
          <p:nvPr/>
        </p:nvSpPr>
        <p:spPr>
          <a:xfrm>
            <a:off x="4663440" y="105156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960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</p:spPr>
      </p:sp>
      <p:sp>
        <p:nvSpPr>
          <p:cNvPr id="15" name="Text 13"/>
          <p:cNvSpPr/>
          <p:nvPr/>
        </p:nvSpPr>
        <p:spPr>
          <a:xfrm>
            <a:off x="6812280" y="1051560"/>
            <a:ext cx="2011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60020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UCI ML Repository / UW CS — features computed from digitized FNA images of breast masses.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real-valued nuclear features (radius, texture, perimeter, area, smoothness, compactness, concavity, concave points, symmetry, fractal dimension) each summarized as mean, standard error, and “worst” (largest) → 30 predictors + binary diagnosis (M/B).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missing values. Class imbalance ~ 63 % benign / 37 % malignant — addressed via stratified splits.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37160" cy="548640"/>
          </a:xfrm>
          <a:prstGeom prst="rect">
            <a:avLst/>
          </a:prstGeom>
          <a:solidFill>
            <a:srgbClr val="0E7C86"/>
          </a:solidFill>
        </p:spPr>
      </p:sp>
      <p:sp>
        <p:nvSpPr>
          <p:cNvPr id="21" name="Text 19"/>
          <p:cNvSpPr/>
          <p:nvPr/>
        </p:nvSpPr>
        <p:spPr>
          <a:xfrm>
            <a:off x="731520" y="4114800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process begins with a clean, well-documented public dataset that maps directly to a clinical decision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2 — PREPARE  |  Expanded Outlier Investigation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Outliers examined across 10 key features (radius, area, texture, concave points, etc.) — not limited to a single variable.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effectLst>
            <a:outerShdw blurRad="508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IQR Outlier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radius_mean          14  (all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area_mean            25  (all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area_worst           35  (all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radius_worst         17  (all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concavity_mean       18  (15 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compactness_mean     16  (all M)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flagged ≥1 feature: 55 (9.7 %)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Of those malignant: 50 (91 %)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effectLst>
            <a:outerShdw blurRad="508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Take-aways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Extreme nuclear size &amp; irregularity are almost exclusively malignant.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Outliers should be flagged for secondary review, not discarded.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Top correlated features with malignancy: concave points, perimeter, radius &amp; area (worst &amp; mean).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Stratified 70 / 15 / 15 train-val-test split + StandardScaler fitted on train only.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3 — ANALYZE  |  Deep Learning &amp; SVM Models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2788920" cy="73152"/>
          </a:xfrm>
          <a:prstGeom prst="rect">
            <a:avLst/>
          </a:prstGeom>
          <a:solidFill>
            <a:srgbClr val="0E7C86"/>
          </a:solidFill>
        </p:spPr>
      </p:sp>
      <p:sp>
        <p:nvSpPr>
          <p:cNvPr id="6" name="Text 4"/>
          <p:cNvSpPr/>
          <p:nvPr/>
        </p:nvSpPr>
        <p:spPr>
          <a:xfrm>
            <a:off x="457200" y="86868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Multi-Layer Perceptron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64 → 32 → 16 →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ReLU + BatchNorm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Dropout 0.3 + L2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Adam + EarlyStopping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64008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640080"/>
            <a:ext cx="2788920" cy="73152"/>
          </a:xfrm>
          <a:prstGeom prst="rect">
            <a:avLst/>
          </a:prstGeom>
          <a:solidFill>
            <a:srgbClr val="0E7C86"/>
          </a:solidFill>
        </p:spPr>
      </p:sp>
      <p:sp>
        <p:nvSpPr>
          <p:cNvPr id="14" name="Text 12"/>
          <p:cNvSpPr/>
          <p:nvPr/>
        </p:nvSpPr>
        <p:spPr>
          <a:xfrm>
            <a:off x="3383280" y="86868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LSTM / RNN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Sequence view of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Reshape 30 → (10, 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2-layer LSTM (hidden 32)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Last hidden → FC → Sigmoid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1546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Captures mean/SE/worst order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640080"/>
            <a:ext cx="2788920" cy="3931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effectLst>
            <a:outerShdw blurRad="635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640080"/>
            <a:ext cx="2788920" cy="73152"/>
          </a:xfrm>
          <a:prstGeom prst="rect">
            <a:avLst/>
          </a:prstGeom>
          <a:solidFill>
            <a:srgbClr val="0E7C86"/>
          </a:solidFill>
        </p:spPr>
      </p:sp>
      <p:sp>
        <p:nvSpPr>
          <p:cNvPr id="22" name="Text 20"/>
          <p:cNvSpPr/>
          <p:nvPr/>
        </p:nvSpPr>
        <p:spPr>
          <a:xfrm>
            <a:off x="6309360" y="86868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SVM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SVC + SVR demo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64592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RBF kernel, C=10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Probability estimates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65176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SVR on area_worst (R² 0.93)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Permutation importance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4 — REPORT  |  Test-Set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5" name="Text 3"/>
          <p:cNvSpPr/>
          <p:nvPr/>
        </p:nvSpPr>
        <p:spPr>
          <a:xfrm>
            <a:off x="914400" y="804672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80467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80467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7680960" cy="502920"/>
          </a:xfrm>
          <a:prstGeom prst="rect">
            <a:avLst/>
          </a:prstGeom>
          <a:solidFill>
            <a:srgbClr val="E6F4F5"/>
          </a:solidFill>
        </p:spPr>
      </p:sp>
      <p:sp>
        <p:nvSpPr>
          <p:cNvPr id="9" name="Text 7"/>
          <p:cNvSpPr/>
          <p:nvPr/>
        </p:nvSpPr>
        <p:spPr>
          <a:xfrm>
            <a:off x="914400" y="132588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(Deep Learning)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3258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0.974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3258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0.992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solidFill>
            <a:srgbClr val="F0F2F5"/>
          </a:solidFill>
        </p:spPr>
      </p:sp>
      <p:sp>
        <p:nvSpPr>
          <p:cNvPr id="13" name="Text 11"/>
          <p:cNvSpPr/>
          <p:nvPr/>
        </p:nvSpPr>
        <p:spPr>
          <a:xfrm>
            <a:off x="914400" y="182880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SVC (RBF SVM)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0.965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0.993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914400" y="23317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 (Recurrent)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0.921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3317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0.987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Hypothesis supported: MLP and SVC both exceed 95 % accuracy and 0.98 AUC. LSTM also exceeds 0.98 AUC.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42900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metrics (MLP): Precision / Recall / F1 for Malignant ≈ 1.00 / 0.93 / 0.96. Low false-negative rate is clinically desirable.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SVR demonstration (predict continuous area_worst): R² = 0.934 — confirms SVM regression capability on the same feature space.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 IMPORTANCE &amp; CLINICAL 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Permutation importance (SVC) — top drivers of malignancy prediction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texture_worst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005840"/>
            <a:ext cx="3730752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7" name="Text 5"/>
          <p:cNvSpPr/>
          <p:nvPr/>
        </p:nvSpPr>
        <p:spPr>
          <a:xfrm>
            <a:off x="6931152" y="9601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0.034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concavity_worst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417320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10" name="Text 8"/>
          <p:cNvSpPr/>
          <p:nvPr/>
        </p:nvSpPr>
        <p:spPr>
          <a:xfrm>
            <a:off x="5724144" y="13716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concavity_mean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828800"/>
            <a:ext cx="2304288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13" name="Text 11"/>
          <p:cNvSpPr/>
          <p:nvPr/>
        </p:nvSpPr>
        <p:spPr>
          <a:xfrm>
            <a:off x="5504688" y="178308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0.021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smoothness_worst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240280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16" name="Text 14"/>
          <p:cNvSpPr/>
          <p:nvPr/>
        </p:nvSpPr>
        <p:spPr>
          <a:xfrm>
            <a:off x="4407408" y="219456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radius_worst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2651760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19" name="Text 17"/>
          <p:cNvSpPr/>
          <p:nvPr/>
        </p:nvSpPr>
        <p:spPr>
          <a:xfrm>
            <a:off x="4078224" y="26060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perimeter_worst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3063240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22" name="Text 20"/>
          <p:cNvSpPr/>
          <p:nvPr/>
        </p:nvSpPr>
        <p:spPr>
          <a:xfrm>
            <a:off x="4078224" y="301752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concave_points_mean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3474720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25" name="Text 23"/>
          <p:cNvSpPr/>
          <p:nvPr/>
        </p:nvSpPr>
        <p:spPr>
          <a:xfrm>
            <a:off x="4078224" y="342900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area_worst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3886200"/>
            <a:ext cx="877824" cy="256032"/>
          </a:xfrm>
          <a:prstGeom prst="roundRect">
            <a:avLst>
              <a:gd name="adj" fmla="val 14286"/>
            </a:avLst>
          </a:prstGeom>
          <a:solidFill>
            <a:srgbClr val="0E7C86"/>
          </a:solidFill>
        </p:spPr>
      </p:sp>
      <p:sp>
        <p:nvSpPr>
          <p:cNvPr id="28" name="Text 26"/>
          <p:cNvSpPr/>
          <p:nvPr/>
        </p:nvSpPr>
        <p:spPr>
          <a:xfrm>
            <a:off x="4078224" y="384048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100584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1B2A4A"/>
          </a:solidFill>
        </p:spPr>
      </p:sp>
      <p:sp>
        <p:nvSpPr>
          <p:cNvPr id="30" name="Text 28"/>
          <p:cNvSpPr/>
          <p:nvPr/>
        </p:nvSpPr>
        <p:spPr>
          <a:xfrm>
            <a:off x="5943600" y="11887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Clinical Alignment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1645920"/>
            <a:ext cx="265176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Larger, more irregular nuclei with higher concavity and texture variation are classic histologic signs of malignancy — the model recovers these signals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 5 — ACT  |  Clinical Decision Support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02920" cy="502920"/>
          </a:xfrm>
          <a:prstGeom prst="ellipse">
            <a:avLst/>
          </a:prstGeom>
          <a:solidFill>
            <a:srgbClr val="0E7C86"/>
          </a:solidFill>
        </p:spPr>
      </p:sp>
      <p:sp>
        <p:nvSpPr>
          <p:cNvPr id="5" name="Text 3"/>
          <p:cNvSpPr/>
          <p:nvPr/>
        </p:nvSpPr>
        <p:spPr>
          <a:xfrm>
            <a:off x="457200" y="82296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6400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 MLP as first-pass triage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accuracy + excellent calibration. Ensemble with SVC for robustness.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0E7C86"/>
          </a:solidFill>
        </p:spPr>
      </p:sp>
      <p:sp>
        <p:nvSpPr>
          <p:cNvPr id="9" name="Text 7"/>
          <p:cNvSpPr/>
          <p:nvPr/>
        </p:nvSpPr>
        <p:spPr>
          <a:xfrm>
            <a:off x="457200" y="178308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outliers for secondary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Extreme radius / area / concave-points values are 91 % malignant — escalate, do not discard.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0E7C86"/>
          </a:solidFill>
        </p:spPr>
      </p:sp>
      <p:sp>
        <p:nvSpPr>
          <p:cNvPr id="13" name="Text 11"/>
          <p:cNvSpPr/>
          <p:nvPr/>
        </p:nvSpPr>
        <p:spPr>
          <a:xfrm>
            <a:off x="457200" y="274320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Uncertain-zone protocol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probability ∈ [0.3, 0.7] → pathologist visual review of FNA slide.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0E7C86"/>
          </a:solidFill>
        </p:spPr>
      </p:sp>
      <p:sp>
        <p:nvSpPr>
          <p:cNvPr id="17" name="Text 15"/>
          <p:cNvSpPr/>
          <p:nvPr/>
        </p:nvSpPr>
        <p:spPr>
          <a:xfrm>
            <a:off x="457200" y="37033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High-confidence malignant pathway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88620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&gt; 0.9 accelerates biopsy/surgery pathway while still requiring human confirmation.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LIMITATIONS &amp;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508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Single-institution historical cohort; external multi-center validation required before clinical use.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Class imbalance still present; cost-sensitive learning may further reduce false negatives.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LSTM under-performed MLP — sequential ordering of features is only a proxy for true temporal data.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calibration or decision-curve analysis yet performed.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effectLst>
            <a:outerShdw blurRad="50800" dist="508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6868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7A4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External validation on multi-center FNA cohorts.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Calibration plots + decision-curve analysis for net-benefit thresholds.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Cost-sensitive or focal-loss training to further protect against missed cancers.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Prospective silent-mode pilot in a pathology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</p:spPr>
      </p:sp>
      <p:sp>
        <p:nvSpPr>
          <p:cNvPr id="5" name="Text 3"/>
          <p:cNvSpPr/>
          <p:nvPr/>
        </p:nvSpPr>
        <p:spPr>
          <a:xfrm>
            <a:off x="640080" y="94183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Hypothesis confirmed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21615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MLP 97.4 % / AUC 0.992  •  SVC 96.5 % / AUC 0.993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</p:spPr>
      </p:sp>
      <p:sp>
        <p:nvSpPr>
          <p:cNvPr id="8" name="Text 6"/>
          <p:cNvSpPr/>
          <p:nvPr/>
        </p:nvSpPr>
        <p:spPr>
          <a:xfrm>
            <a:off x="640080" y="17647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Outliers matter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9.7 % of cases extreme on ≥1 key feature; 91 % of them malignant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</p:spPr>
      </p:sp>
      <p:sp>
        <p:nvSpPr>
          <p:cNvPr id="11" name="Text 9"/>
          <p:cNvSpPr/>
          <p:nvPr/>
        </p:nvSpPr>
        <p:spPr>
          <a:xfrm>
            <a:off x="640080" y="258775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Deep learning works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Regularized MLP is production-ready baseline; LSTM proves sequential view is viable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A4A"/>
          </a:solidFill>
        </p:spPr>
      </p:sp>
      <p:sp>
        <p:nvSpPr>
          <p:cNvPr id="14" name="Text 12"/>
          <p:cNvSpPr/>
          <p:nvPr/>
        </p:nvSpPr>
        <p:spPr>
          <a:xfrm>
            <a:off x="640080" y="341071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Actionable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Triage → flag outliers → escalate uncertain zone → accelerate high-confidence malignant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5298</Words>
  <Application>WPS Presentation</Application>
  <PresentationFormat>On-screen Show (16:9)</PresentationFormat>
  <Paragraphs>249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Century Gothic</vt:lpstr>
      <vt:lpstr>Century Gothic</vt:lpstr>
      <vt:lpstr>Century Gothic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 500 Micro-Project 4 — Breast Cancer Wisconsin Diagnostic</dc:title>
  <dc:creator>Data Science Partner</dc:creator>
  <dc:subject>PptxGenJS Presentation</dc:subject>
  <cp:lastModifiedBy>derrick fosu</cp:lastModifiedBy>
  <cp:revision>3</cp:revision>
  <dcterms:created xsi:type="dcterms:W3CDTF">2026-10-10T18:43:00Z</dcterms:created>
  <dcterms:modified xsi:type="dcterms:W3CDTF">2026-10-10T23:42:45Z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15EF208F5BED4F36901FC4485398E5AA_13</vt:lpwstr>
  </property>
  <property fmtid="{D5CDD505-2E9C-101B-9397-08002B2CF9AE}" pid="3" name="KSOProductBuildVer">
    <vt:lpwstr>2057-12.2.0.23206</vt:lpwstr>
  </property>
</Properties>
</file>